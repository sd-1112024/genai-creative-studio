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0" r:id="rId7"/>
    <p:sldId id="270" r:id="rId8"/>
    <p:sldId id="272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C74EC7-BF84-4DAD-8783-4382F0759EF5}" v="7" dt="2026-03-04T16:37:12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ka D" userId="6249437d68a71a46" providerId="LiveId" clId="{902D92AD-8E6A-411A-983D-20C1090A7DAC}"/>
    <pc:docChg chg="undo custSel addSld modSld">
      <pc:chgData name="Sonika D" userId="6249437d68a71a46" providerId="LiveId" clId="{902D92AD-8E6A-411A-983D-20C1090A7DAC}" dt="2026-03-04T16:41:55.272" v="183" actId="313"/>
      <pc:docMkLst>
        <pc:docMk/>
      </pc:docMkLst>
      <pc:sldChg chg="modSp mod">
        <pc:chgData name="Sonika D" userId="6249437d68a71a46" providerId="LiveId" clId="{902D92AD-8E6A-411A-983D-20C1090A7DAC}" dt="2026-03-04T16:37:12.549" v="169"/>
        <pc:sldMkLst>
          <pc:docMk/>
          <pc:sldMk cId="1611809507" sldId="257"/>
        </pc:sldMkLst>
        <pc:spChg chg="mod">
          <ac:chgData name="Sonika D" userId="6249437d68a71a46" providerId="LiveId" clId="{902D92AD-8E6A-411A-983D-20C1090A7DAC}" dt="2026-03-04T16:37:12.549" v="169"/>
          <ac:spMkLst>
            <pc:docMk/>
            <pc:sldMk cId="1611809507" sldId="257"/>
            <ac:spMk id="3" creationId="{DE91D03F-8C58-81BD-2B41-29674B552116}"/>
          </ac:spMkLst>
        </pc:spChg>
      </pc:sldChg>
      <pc:sldChg chg="modSp mod">
        <pc:chgData name="Sonika D" userId="6249437d68a71a46" providerId="LiveId" clId="{902D92AD-8E6A-411A-983D-20C1090A7DAC}" dt="2026-03-04T16:41:55.272" v="183" actId="313"/>
        <pc:sldMkLst>
          <pc:docMk/>
          <pc:sldMk cId="3487909959" sldId="259"/>
        </pc:sldMkLst>
        <pc:spChg chg="mod">
          <ac:chgData name="Sonika D" userId="6249437d68a71a46" providerId="LiveId" clId="{902D92AD-8E6A-411A-983D-20C1090A7DAC}" dt="2026-03-04T16:41:55.272" v="183" actId="313"/>
          <ac:spMkLst>
            <pc:docMk/>
            <pc:sldMk cId="3487909959" sldId="259"/>
            <ac:spMk id="3" creationId="{A7CABFE1-54CF-42D2-0B6C-04635C2A1276}"/>
          </ac:spMkLst>
        </pc:spChg>
      </pc:sldChg>
      <pc:sldChg chg="addSp delSp modSp new mod">
        <pc:chgData name="Sonika D" userId="6249437d68a71a46" providerId="LiveId" clId="{902D92AD-8E6A-411A-983D-20C1090A7DAC}" dt="2026-03-04T16:31:06.669" v="57" actId="20577"/>
        <pc:sldMkLst>
          <pc:docMk/>
          <pc:sldMk cId="233634173" sldId="271"/>
        </pc:sldMkLst>
        <pc:spChg chg="mod">
          <ac:chgData name="Sonika D" userId="6249437d68a71a46" providerId="LiveId" clId="{902D92AD-8E6A-411A-983D-20C1090A7DAC}" dt="2026-03-04T16:29:35.577" v="37" actId="1076"/>
          <ac:spMkLst>
            <pc:docMk/>
            <pc:sldMk cId="233634173" sldId="271"/>
            <ac:spMk id="2" creationId="{7D949031-18FC-69C0-16BF-8DBD66590240}"/>
          </ac:spMkLst>
        </pc:spChg>
        <pc:spChg chg="add del mod">
          <ac:chgData name="Sonika D" userId="6249437d68a71a46" providerId="LiveId" clId="{902D92AD-8E6A-411A-983D-20C1090A7DAC}" dt="2026-03-04T16:30:25.927" v="42"/>
          <ac:spMkLst>
            <pc:docMk/>
            <pc:sldMk cId="233634173" sldId="271"/>
            <ac:spMk id="3" creationId="{1ACF0B54-C764-3593-1001-33AA86EBF71E}"/>
          </ac:spMkLst>
        </pc:spChg>
        <pc:spChg chg="add del mod">
          <ac:chgData name="Sonika D" userId="6249437d68a71a46" providerId="LiveId" clId="{902D92AD-8E6A-411A-983D-20C1090A7DAC}" dt="2026-03-04T16:30:25.929" v="44"/>
          <ac:spMkLst>
            <pc:docMk/>
            <pc:sldMk cId="233634173" sldId="271"/>
            <ac:spMk id="4" creationId="{010B60C3-9E9C-993E-5D07-9B0DE545767F}"/>
          </ac:spMkLst>
        </pc:spChg>
        <pc:spChg chg="add mod">
          <ac:chgData name="Sonika D" userId="6249437d68a71a46" providerId="LiveId" clId="{902D92AD-8E6A-411A-983D-20C1090A7DAC}" dt="2026-03-04T16:31:06.669" v="57" actId="20577"/>
          <ac:spMkLst>
            <pc:docMk/>
            <pc:sldMk cId="233634173" sldId="271"/>
            <ac:spMk id="6" creationId="{FB806A98-CF8B-D513-622C-709ECABF9EFB}"/>
          </ac:spMkLst>
        </pc:spChg>
      </pc:sldChg>
      <pc:sldChg chg="addSp delSp modSp new mod">
        <pc:chgData name="Sonika D" userId="6249437d68a71a46" providerId="LiveId" clId="{902D92AD-8E6A-411A-983D-20C1090A7DAC}" dt="2026-03-04T16:35:50.421" v="87" actId="22"/>
        <pc:sldMkLst>
          <pc:docMk/>
          <pc:sldMk cId="2348218608" sldId="272"/>
        </pc:sldMkLst>
        <pc:spChg chg="mod">
          <ac:chgData name="Sonika D" userId="6249437d68a71a46" providerId="LiveId" clId="{902D92AD-8E6A-411A-983D-20C1090A7DAC}" dt="2026-03-04T16:32:17.685" v="63" actId="1076"/>
          <ac:spMkLst>
            <pc:docMk/>
            <pc:sldMk cId="2348218608" sldId="272"/>
            <ac:spMk id="2" creationId="{AB9F3BF7-F881-0EEF-16AF-A48DA078EB58}"/>
          </ac:spMkLst>
        </pc:spChg>
        <pc:spChg chg="add del mod">
          <ac:chgData name="Sonika D" userId="6249437d68a71a46" providerId="LiveId" clId="{902D92AD-8E6A-411A-983D-20C1090A7DAC}" dt="2026-03-04T16:32:48.021" v="67"/>
          <ac:spMkLst>
            <pc:docMk/>
            <pc:sldMk cId="2348218608" sldId="272"/>
            <ac:spMk id="3" creationId="{CFC1A4B3-71DA-039A-2391-D747FD073925}"/>
          </ac:spMkLst>
        </pc:spChg>
        <pc:spChg chg="add mod">
          <ac:chgData name="Sonika D" userId="6249437d68a71a46" providerId="LiveId" clId="{902D92AD-8E6A-411A-983D-20C1090A7DAC}" dt="2026-03-04T16:33:58.083" v="83" actId="14100"/>
          <ac:spMkLst>
            <pc:docMk/>
            <pc:sldMk cId="2348218608" sldId="272"/>
            <ac:spMk id="5" creationId="{2AEF1979-C665-2FFB-542E-E946E6DFB7B9}"/>
          </ac:spMkLst>
        </pc:spChg>
        <pc:spChg chg="add del mod">
          <ac:chgData name="Sonika D" userId="6249437d68a71a46" providerId="LiveId" clId="{902D92AD-8E6A-411A-983D-20C1090A7DAC}" dt="2026-03-04T16:35:50.421" v="87" actId="22"/>
          <ac:spMkLst>
            <pc:docMk/>
            <pc:sldMk cId="2348218608" sldId="272"/>
            <ac:spMk id="7" creationId="{CA02DC3E-D380-C1D4-A249-3EDBE0D36EC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7A44-1297-0219-ECB0-B31FD2C2C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679B6-3C74-EF13-3017-D44A5BD8EE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B654-8582-1950-1E93-3D4905688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D2BB6-8111-950B-206F-9564AE5D5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CCF87-11FA-AF9B-AD43-2AF152F0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19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2432C-BD56-B69B-D51E-216F4686D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C2BD-3635-D381-2EFA-FFA2B58C3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9DC52-704C-9880-5539-89A44DBE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2FB33-D280-3A43-4C22-A4BD95C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AADC3-3B4D-E582-6167-98D2D0415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94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F8832-E0BD-70DA-0968-1DAB54862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02D18-381B-8755-8B40-EC4C8B04E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0348-F7DD-1BCF-939B-BBBD219E4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E6BA3-4B68-BB01-84D3-A72A1815D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E27C2-2EDE-2F8C-7AF9-3A0B5E93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313BD-CF4C-84BB-12D4-1FEBFD000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155CC-47CF-BF35-2B25-0FEC21854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65A1C-F7A1-223A-6BCC-EA49B53F1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4F18-4D5C-6DA7-914B-5629AEA7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1C707-1927-CD24-7F08-BE60E17B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DA3BC-31E3-E60B-6678-9461B2B9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220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6153B-5896-F1D1-7B46-3BA683BEC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DE4F7-0684-D499-BC72-D1CD345E1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DBCBAE-E262-C8D6-E3DE-7E38A2963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13923-A9D1-4738-EC2B-192C12C25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F80D5-E8CD-267E-F56B-CE42FBC11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6C2B0B-7EA5-61F5-AE59-5BB377B1F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55029-648E-1C38-8C01-A7DA9FC0B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5620A4-DCAD-097D-0282-14635D1A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1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F7F9-45C2-24F3-32A5-00C48AB8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AF4DA9-5EE9-1F33-3343-BA07CD08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6C2F8-9D0C-6982-DD22-46BFA8C24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16ED9-C56A-D50D-B0F4-4F32A81F5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9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547F9-912F-507D-83BA-387E891EC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DE21F-649B-4746-6FB3-FF590743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AE09F-6836-3862-1677-0B63BD2B9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2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3C6B-C59F-3FAD-C90B-A4CCEF336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DF123-65AA-A63B-F7BB-80A592C00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C2440-24BC-5930-03E6-8BF613785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B2AF6-1B93-3635-5718-F002DA73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0BF36-57C7-FFA1-F17F-FDEDCBB6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03E23-B6A2-A96B-1702-A96599B62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65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D5A8A-812D-732A-CCD8-AAF277D82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77B3A-1D8F-1EB5-625D-207C12E750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BE0198-B328-79CA-FAB0-996EE3EEB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6E712-F8C2-03D1-1B1F-A0C0E0894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2B12C-8D1F-EF91-8A2E-5A892D1DB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D4E4D-45CD-1F89-C4B4-766F22C57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611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1BF9A-5F98-2435-7343-CAD8C101F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262F5-5D11-7D6D-E4E7-A8B956CF1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4BB0C-C250-C6D2-11E5-5EECF3DD8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02590-1FF7-5D97-AD08-CE7E242B0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F4DCF-E9D4-85E7-8EFD-E1112219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393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C6F11-B692-BB79-03E2-C632F6B2DD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9DAF-D893-A72A-FB3C-64AA97BF6A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3DF79-D700-4B3D-02B2-F5F91570D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3C0EE0-B649-25FA-95A3-EA99F6AE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72DD2-046F-5641-DE6F-E4C26AB9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39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92F50-E971-80DB-017D-2D8D46295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A3B3-6E01-224E-336B-BF6628B57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DFCBD-FD39-2E88-E211-27A8DFB57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89D7D-88F8-4EAA-ABEA-1F5E306EFA52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C931E-DB9B-64AB-F2E3-EED5620C8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FA90E-BBF6-C030-21F5-B7E613598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EA852-2C86-4897-9CB9-3CE850CE16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43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A0FC800-78FA-5624-E0FD-B9C249D04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654BE952-E398-4732-8C2A-F15D7BAAE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ayananda Sagar University">
            <a:extLst>
              <a:ext uri="{FF2B5EF4-FFF2-40B4-BE49-F238E27FC236}">
                <a16:creationId xmlns:a16="http://schemas.microsoft.com/office/drawing/2014/main" id="{75976F40-8E55-D6B6-F063-238D57B749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DC56D7-1AD8-7C82-7F0E-17B7A0EAA8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27CB68-A197-5AF4-1525-F84F29602A37}"/>
              </a:ext>
            </a:extLst>
          </p:cNvPr>
          <p:cNvSpPr txBox="1"/>
          <p:nvPr/>
        </p:nvSpPr>
        <p:spPr>
          <a:xfrm>
            <a:off x="621627" y="1011823"/>
            <a:ext cx="1110210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0" dirty="0">
                <a:solidFill>
                  <a:schemeClr val="accent1"/>
                </a:solidFill>
                <a:effectLst/>
                <a:latin typeface="Bookman Old Style" panose="02050604050505020204" pitchFamily="18" charset="0"/>
              </a:rPr>
              <a:t>Dayananda Sagar University (DSU) - Main Campus</a:t>
            </a:r>
          </a:p>
          <a:p>
            <a:pPr algn="ctr"/>
            <a:r>
              <a:rPr lang="en-US" sz="2400" b="1" i="0" dirty="0">
                <a:solidFill>
                  <a:schemeClr val="accent1"/>
                </a:solidFill>
                <a:effectLst/>
                <a:latin typeface="Bookman Old Style" panose="02050604050505020204" pitchFamily="18" charset="0"/>
              </a:rPr>
              <a:t>School of Engineering</a:t>
            </a:r>
          </a:p>
          <a:p>
            <a:pPr algn="ctr"/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Devarakaggalahalli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, </a:t>
            </a:r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Harohalli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 </a:t>
            </a:r>
            <a:r>
              <a:rPr lang="en-US" sz="1200" b="1" i="0" dirty="0" err="1">
                <a:effectLst/>
                <a:latin typeface="Bookman Old Style" panose="02050604050505020204" pitchFamily="18" charset="0"/>
              </a:rPr>
              <a:t>Kanakapura</a:t>
            </a:r>
            <a:r>
              <a:rPr lang="en-US" sz="1200" b="1" i="0" dirty="0">
                <a:effectLst/>
                <a:latin typeface="Bookman Old Style" panose="02050604050505020204" pitchFamily="18" charset="0"/>
              </a:rPr>
              <a:t> Road, Bengaluru South Dist., Karnataka 562112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55867F-821D-36BF-2A38-E626D649E8CA}"/>
              </a:ext>
            </a:extLst>
          </p:cNvPr>
          <p:cNvSpPr txBox="1"/>
          <p:nvPr/>
        </p:nvSpPr>
        <p:spPr>
          <a:xfrm>
            <a:off x="235526" y="2125846"/>
            <a:ext cx="11720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DEPARTMENT OF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COMPUTER SCIENCE AND ENGINEERING 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(ARTIFICIAL INTELLIGENCE AND MACHINE LEARNING)</a:t>
            </a:r>
          </a:p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Generative -AI (23AM3609)</a:t>
            </a: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Synopsis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94B5E3-2FAD-8632-BD54-67CACB5F7F85}"/>
              </a:ext>
            </a:extLst>
          </p:cNvPr>
          <p:cNvSpPr txBox="1"/>
          <p:nvPr/>
        </p:nvSpPr>
        <p:spPr>
          <a:xfrm>
            <a:off x="1580384" y="3880132"/>
            <a:ext cx="9556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Bookman Old Style" panose="02050604050505020204" pitchFamily="18" charset="0"/>
              </a:rPr>
              <a:t>Title: “</a:t>
            </a:r>
            <a:r>
              <a:rPr lang="en-US" sz="2000" b="1" dirty="0">
                <a:latin typeface="Bookman Old Style" panose="02050604050505020204" pitchFamily="18" charset="0"/>
              </a:rPr>
              <a:t>Multi-Agent Collaborative Framework for Automated Narrative and Visual Content Generation </a:t>
            </a:r>
            <a:r>
              <a:rPr lang="en-IN" sz="2000" b="1" dirty="0">
                <a:latin typeface="Bookman Old Style" panose="02050604050505020204" pitchFamily="18" charset="0"/>
              </a:rPr>
              <a:t>”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Google Shape;65;p2">
            <a:extLst>
              <a:ext uri="{FF2B5EF4-FFF2-40B4-BE49-F238E27FC236}">
                <a16:creationId xmlns:a16="http://schemas.microsoft.com/office/drawing/2014/main" id="{E0C68854-9F4F-6AB8-A5F5-126E33082208}"/>
              </a:ext>
            </a:extLst>
          </p:cNvPr>
          <p:cNvSpPr txBox="1"/>
          <p:nvPr/>
        </p:nvSpPr>
        <p:spPr>
          <a:xfrm>
            <a:off x="3047113" y="5234438"/>
            <a:ext cx="6097772" cy="83095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Name:- Saumyaa Priyadarshinee   USN:ENG23AM0187 </a:t>
            </a: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Name:- Sonika D                           USN:ENG23AM0197</a:t>
            </a:r>
            <a:endParaRPr lang="en-IN" sz="1600" dirty="0">
              <a:solidFill>
                <a:schemeClr val="lt1"/>
              </a:solidFill>
              <a:latin typeface="Bookman Old Style" panose="02050604050505020204" pitchFamily="18" charset="0"/>
              <a:ea typeface="Calibri"/>
              <a:cs typeface="Calibri"/>
              <a:sym typeface="Calibri"/>
            </a:endParaRPr>
          </a:p>
          <a:p>
            <a:r>
              <a:rPr lang="en-IN" sz="1600" dirty="0">
                <a:solidFill>
                  <a:schemeClr val="lt1"/>
                </a:solidFill>
                <a:latin typeface="Bookman Old Style" panose="02050604050505020204" pitchFamily="18" charset="0"/>
                <a:ea typeface="Trebuchet MS"/>
                <a:cs typeface="Trebuchet MS"/>
                <a:sym typeface="Trebuchet MS"/>
              </a:rPr>
              <a:t>   </a:t>
            </a:r>
            <a:endParaRPr lang="en-IN" sz="1600" dirty="0">
              <a:solidFill>
                <a:schemeClr val="lt1"/>
              </a:solidFill>
              <a:latin typeface="Bookman Old Style" panose="02050604050505020204" pitchFamily="18" charset="0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1E8FF-8451-6B47-3887-6BD5776320D0}"/>
              </a:ext>
            </a:extLst>
          </p:cNvPr>
          <p:cNvSpPr txBox="1"/>
          <p:nvPr/>
        </p:nvSpPr>
        <p:spPr>
          <a:xfrm>
            <a:off x="2841148" y="621923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Bookman Old Style" panose="02050604050505020204" pitchFamily="18" charset="0"/>
              </a:rPr>
              <a:t>Academic Year: 2025-2026(Even Semester)</a:t>
            </a:r>
          </a:p>
        </p:txBody>
      </p:sp>
    </p:spTree>
    <p:extLst>
      <p:ext uri="{BB962C8B-B14F-4D97-AF65-F5344CB8AC3E}">
        <p14:creationId xmlns:p14="http://schemas.microsoft.com/office/powerpoint/2010/main" val="145305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6007-DB88-DC02-E057-E5BD89B48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74" y="1304013"/>
            <a:ext cx="10515600" cy="71695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Bookman Old Style" panose="020506040505050202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1D03F-8C58-81BD-2B41-29674B552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74" y="2353485"/>
            <a:ext cx="10515600" cy="4351338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</a:rPr>
              <a:t>Aim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</a:rPr>
              <a:t>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</a:rPr>
              <a:t>Datasets and Knowledge 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</a:rPr>
              <a:t>Methodology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</a:rPr>
              <a:t>Quantitative and Qualitative Result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Bookman Old Style" panose="02050604050505020204" pitchFamily="18" charset="0"/>
              </a:rPr>
              <a:t>References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CDDF16B5-0695-DF87-0C88-D643B8AC3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53DAA355-A119-FE2D-8B47-144D3D2D2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F05EB94C-96D1-6013-8FEF-07C871EF30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2C1CE5-FAB7-C8A2-D3BF-BCEB8E93AE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09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D6C6-676A-0F85-6B10-D55AE69FC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6387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AIM</a:t>
            </a: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37099787-DE13-A8B1-7E56-F8C596F21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A7D6C933-6576-53CF-3FEC-C3EAE65FC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41462B4D-E6B3-7F8C-B840-47FB771E9D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33B245-BD15-C4D9-9484-1861B8D090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58DB4BE4-7B5E-BA2D-99F6-4C7613D95A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4179"/>
            <a:ext cx="1109816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create a system where one AI writes the story and another AI "reads" it to create matching pictures.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make the project smart enough to switch between different GenAI models (like Llama and Stable Diffusion) if one fails.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save all the AI-generated text and images directly onto the computer so they can be put into a PDF report instantly.</a:t>
            </a:r>
          </a:p>
        </p:txBody>
      </p:sp>
    </p:spTree>
    <p:extLst>
      <p:ext uri="{BB962C8B-B14F-4D97-AF65-F5344CB8AC3E}">
        <p14:creationId xmlns:p14="http://schemas.microsoft.com/office/powerpoint/2010/main" val="4136471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C1AC4-EACC-86E1-B45F-9265C226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905" y="1392476"/>
            <a:ext cx="10515600" cy="538642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Objectives 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ABFE1-54CF-42D2-0B6C-04635C2A1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905" y="2143311"/>
            <a:ext cx="10639525" cy="33845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design an intelligent </a:t>
            </a:r>
            <a:r>
              <a:rPr lang="en-US" sz="1800">
                <a:latin typeface="Arial" panose="020B0604020202020204" pitchFamily="34" charset="0"/>
                <a:cs typeface="Arial" panose="020B0604020202020204" pitchFamily="34" charset="0"/>
              </a:rPr>
              <a:t>multi-agent web scrapper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for automated narrative and visual synchronization.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implement a model-agnostic layer with intelligent rotation to mitigate API rate limits and 429 errors(</a:t>
            </a:r>
            <a:r>
              <a:rPr lang="en-US" sz="1800" dirty="0"/>
              <a:t>HTTP status code returned by an API server when you send more requests than allowed within a specific time limit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7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integrate specialized agents for story generation, character profiling, and context-aware image synthesis.</a:t>
            </a: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2CBAD69-5808-175F-6639-60B740A60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21100B69-E085-712B-AF29-5991E11AF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ayananda Sagar University">
            <a:extLst>
              <a:ext uri="{FF2B5EF4-FFF2-40B4-BE49-F238E27FC236}">
                <a16:creationId xmlns:a16="http://schemas.microsoft.com/office/drawing/2014/main" id="{3B8493B3-D81B-FF37-ACF2-4B6CE17B04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39627E-743B-AE22-B17A-C00812EF43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90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49031-18FC-69C0-16BF-8DBD6659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078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Datasets and Knowledge 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06A98-CF8B-D513-622C-709ECABF9EFB}"/>
              </a:ext>
            </a:extLst>
          </p:cNvPr>
          <p:cNvSpPr txBox="1"/>
          <p:nvPr/>
        </p:nvSpPr>
        <p:spPr>
          <a:xfrm>
            <a:off x="435078" y="1325563"/>
            <a:ext cx="10515600" cy="4618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Prompt Engineering as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Unlike traditional ML, our "dataset" consists of high-fidelity system prompts and world-building constraints injected into the Llama-3.3 model.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Dynamic Metadata Extraction: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The system performs real-time Information Extraction (IE) to identify character traits and environmental cues from the generated narrative.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Visual Synthesis Prompts: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Narrative data is transformed into structured "Visual Captions" that serve as the input dataset for our Diffusion models (FLUX.1-schnell).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Consistency Mapping: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Character metadata is persisted across agents to ensure that visual outputs match the textual descriptions throughout the 1000-word story.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34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377A8-6212-3FE6-B26F-40A92BDE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830" y="870127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Methodology</a:t>
            </a: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969AFA89-8C7B-13F1-253E-568F4D7C9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972DAEAB-ACC9-49AC-9EFE-D045DF788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E205C76A-2B9D-9926-91F4-CEF461DA4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E53FF4-A2C8-379B-01BC-7E5C0D29FC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21B8086-7075-AA65-DACE-1F1D163C34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4" t="31934" r="3904" b="28750"/>
          <a:stretch>
            <a:fillRect/>
          </a:stretch>
        </p:blipFill>
        <p:spPr>
          <a:xfrm>
            <a:off x="908095" y="2096157"/>
            <a:ext cx="10375809" cy="4424977"/>
          </a:xfrm>
        </p:spPr>
      </p:pic>
    </p:spTree>
    <p:extLst>
      <p:ext uri="{BB962C8B-B14F-4D97-AF65-F5344CB8AC3E}">
        <p14:creationId xmlns:p14="http://schemas.microsoft.com/office/powerpoint/2010/main" val="2673768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5810BF-16F8-801C-1142-653144E1272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01442" y="533191"/>
            <a:ext cx="10058401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process starts when you enter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the system.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Narrative Agent (Groq / Llama 3.3)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agent "thinks" and generates the 1000-word story. It acts as the "Brain" of the project.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Agent (Hugging Face)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reads the story to find key scenes and character names.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It creates unique images for each scene and character.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Resilience (Failover)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If the first AI model is busy, it automatically switches to a backup model to ensure the image is created.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4.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Layer (SQLite)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 AI-generated text and the local file paths of the images are saved here for safety.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PDF Engine (FPDF2)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This final agent pulls everything together into a professional report with the story, character list, and storyboard.</a:t>
            </a:r>
          </a:p>
        </p:txBody>
      </p:sp>
    </p:spTree>
    <p:extLst>
      <p:ext uri="{BB962C8B-B14F-4D97-AF65-F5344CB8AC3E}">
        <p14:creationId xmlns:p14="http://schemas.microsoft.com/office/powerpoint/2010/main" val="3793836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F3BF7-F881-0EEF-16AF-A48DA078E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4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Quantitative &amp; Qualitative Result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EF1979-C665-2FFB-542E-E946E6DFB7B9}"/>
              </a:ext>
            </a:extLst>
          </p:cNvPr>
          <p:cNvSpPr txBox="1"/>
          <p:nvPr/>
        </p:nvSpPr>
        <p:spPr>
          <a:xfrm>
            <a:off x="376084" y="1019967"/>
            <a:ext cx="11360391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Narrative-Visual Synchronization: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Achieved 100% alignment between story events and generated imagery through context-aware prompting.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Character Identity Persistence: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Successfully maintained Jax’s "neon-orange mohawk" and Vesper’s "red visor" across multiple scenes, as evidenced in the generated PDF.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Execution Efficiency: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Total pipeline execution (Narrative → 4 Scene Storyboard → 3 Portraits → PDF Export) completes in under 60 seconds.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Structured Output Validation: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Utilized JSON mode to ensure 100% accuracy in metadata extraction for the Character Profile section of the report.</a:t>
            </a:r>
          </a:p>
        </p:txBody>
      </p:sp>
    </p:spTree>
    <p:extLst>
      <p:ext uri="{BB962C8B-B14F-4D97-AF65-F5344CB8AC3E}">
        <p14:creationId xmlns:p14="http://schemas.microsoft.com/office/powerpoint/2010/main" val="2348218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1F06-AFD6-943E-BF35-3F3E029A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DF2FF-9083-4BE7-B637-95C50BB8D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373" y="50558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Bookman Old Style" panose="02050604050505020204" pitchFamily="18" charset="0"/>
              </a:rPr>
              <a:t>References</a:t>
            </a:r>
          </a:p>
        </p:txBody>
      </p:sp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3C8ADD58-B9A6-30B9-AE3F-E6718972B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605877B6-AFEF-FC88-A16D-60F1416CC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A68C842A-4F3E-3380-32C7-6856ABCB51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EC96A-1519-A05D-2E33-E0DBF0F33A7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C58DCD7-CFFB-0863-3822-D79F4B347B6D}"/>
              </a:ext>
            </a:extLst>
          </p:cNvPr>
          <p:cNvSpPr txBox="1"/>
          <p:nvPr/>
        </p:nvSpPr>
        <p:spPr>
          <a:xfrm>
            <a:off x="553373" y="1539393"/>
            <a:ext cx="11610977" cy="5035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[1] D. B. Acharya et al., "Agentic AI: Autonomous Intelligence for Complex Goals – A Comprehensive Survey," IEEE Access, vol. 13, pp. 18911-18935, 2025.</a:t>
            </a:r>
          </a:p>
          <a:p>
            <a:pPr>
              <a:lnSpc>
                <a:spcPct val="150000"/>
              </a:lnSpc>
            </a:pPr>
            <a:r>
              <a:rPr lang="en-US" dirty="0"/>
              <a:t>[2] M. Trigka and E. Dritsas, "The Evolution of Generative AI: Trends and Applications," IEEE Access, 2025. [Online]. Available: IEEE Xplore.</a:t>
            </a:r>
          </a:p>
          <a:p>
            <a:pPr>
              <a:lnSpc>
                <a:spcPct val="150000"/>
              </a:lnSpc>
            </a:pPr>
            <a:r>
              <a:rPr lang="fr-FR" dirty="0"/>
              <a:t>[3] L. Zhou et al., "Semantic Information Extraction and Multi-Agent Communication </a:t>
            </a:r>
            <a:r>
              <a:rPr lang="en-US" dirty="0"/>
              <a:t>Optimization Based on Generative Pre-Trained Transformer," IEEE Transactions on Cognitive Communications and Networking, 2024.</a:t>
            </a:r>
          </a:p>
          <a:p>
            <a:pPr>
              <a:lnSpc>
                <a:spcPct val="150000"/>
              </a:lnSpc>
            </a:pPr>
            <a:r>
              <a:rPr lang="en-US" dirty="0"/>
              <a:t>[4] S. J. Jeong, "A Systematic Review of Generative AI on Game Character Creation: Applications, Challenges, and Future Trends," IEEE Transactions on Games, 2025.</a:t>
            </a:r>
          </a:p>
          <a:p>
            <a:pPr>
              <a:lnSpc>
                <a:spcPct val="150000"/>
              </a:lnSpc>
            </a:pPr>
            <a:r>
              <a:rPr lang="en-US" dirty="0"/>
              <a:t>[5] T. Wang et al., "Rethinking HTTP API Rate Limiting: A Client-Side Approach," ResearchGate, OCT. 2025.</a:t>
            </a:r>
          </a:p>
          <a:p>
            <a:pPr>
              <a:lnSpc>
                <a:spcPct val="150000"/>
              </a:lnSpc>
            </a:pPr>
            <a:r>
              <a:rPr lang="en-US" dirty="0"/>
              <a:t>[6] A. Rahman et al., "A Novel Llama 3-Based Prompt Engineering Platform for Textual Data Generation and Labeling," ResearchGate, Oct. 2025.</a:t>
            </a:r>
          </a:p>
          <a:p>
            <a:pPr>
              <a:lnSpc>
                <a:spcPct val="150000"/>
              </a:lnSpc>
            </a:pPr>
            <a:r>
              <a:rPr lang="en-US" dirty="0"/>
              <a:t>[7] F. Huot et al., "Agents' Room: Narrative Generation through Multi-step Collaboration,” ResearchGate, Oct. 2024.</a:t>
            </a:r>
          </a:p>
        </p:txBody>
      </p:sp>
    </p:spTree>
    <p:extLst>
      <p:ext uri="{BB962C8B-B14F-4D97-AF65-F5344CB8AC3E}">
        <p14:creationId xmlns:p14="http://schemas.microsoft.com/office/powerpoint/2010/main" val="4280193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chool of Commerce &amp; Management, Dayananda Sagar University, Bangalore">
            <a:extLst>
              <a:ext uri="{FF2B5EF4-FFF2-40B4-BE49-F238E27FC236}">
                <a16:creationId xmlns:a16="http://schemas.microsoft.com/office/drawing/2014/main" id="{8B02509E-5FD9-5940-4B1D-31A12B03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58" y="153177"/>
            <a:ext cx="2232837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AYANANDA SAGAR UNIVERSITY SCHOOL OF ENGINEERING SCHEME &amp; SYLLABUS FOR  BACHELOR OF TECHNOLOGY (B.Tech.) – 2020 COMPUTER SC">
            <a:extLst>
              <a:ext uri="{FF2B5EF4-FFF2-40B4-BE49-F238E27FC236}">
                <a16:creationId xmlns:a16="http://schemas.microsoft.com/office/drawing/2014/main" id="{E511D2C5-5044-A02E-7022-765C8940E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429" y="153177"/>
            <a:ext cx="2347433" cy="71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Dayananda Sagar University">
            <a:extLst>
              <a:ext uri="{FF2B5EF4-FFF2-40B4-BE49-F238E27FC236}">
                <a16:creationId xmlns:a16="http://schemas.microsoft.com/office/drawing/2014/main" id="{1E638FA4-238D-27E2-92E4-3C4D09510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4" t="8884" r="7953" b="11488"/>
          <a:stretch>
            <a:fillRect/>
          </a:stretch>
        </p:blipFill>
        <p:spPr bwMode="auto">
          <a:xfrm>
            <a:off x="7765314" y="85594"/>
            <a:ext cx="1173606" cy="83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9A35B0-BB92-09EA-83BD-28DF29107A9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2430" y="85594"/>
            <a:ext cx="702612" cy="716950"/>
          </a:xfrm>
          <a:prstGeom prst="rect">
            <a:avLst/>
          </a:prstGeom>
        </p:spPr>
      </p:pic>
      <p:pic>
        <p:nvPicPr>
          <p:cNvPr id="8" name="Picture 2" descr="Thank You Vector Art, Icons, and Graphics for Free Download">
            <a:extLst>
              <a:ext uri="{FF2B5EF4-FFF2-40B4-BE49-F238E27FC236}">
                <a16:creationId xmlns:a16="http://schemas.microsoft.com/office/drawing/2014/main" id="{21A04F90-428A-CFF1-DB37-1A73CB1D64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9" b="10251"/>
          <a:stretch>
            <a:fillRect/>
          </a:stretch>
        </p:blipFill>
        <p:spPr bwMode="auto">
          <a:xfrm>
            <a:off x="3345109" y="1371600"/>
            <a:ext cx="5593811" cy="4475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557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822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Bookman Old Style</vt:lpstr>
      <vt:lpstr>Calibri</vt:lpstr>
      <vt:lpstr>Calibri Light</vt:lpstr>
      <vt:lpstr>Google Sans Text</vt:lpstr>
      <vt:lpstr>Office Theme</vt:lpstr>
      <vt:lpstr>PowerPoint Presentation</vt:lpstr>
      <vt:lpstr>Contents</vt:lpstr>
      <vt:lpstr>AIM</vt:lpstr>
      <vt:lpstr>Objectives </vt:lpstr>
      <vt:lpstr>Datasets and Knowledge Base</vt:lpstr>
      <vt:lpstr>Methodology</vt:lpstr>
      <vt:lpstr>PowerPoint Presentation</vt:lpstr>
      <vt:lpstr>Quantitative &amp; Qualitative Result Analysis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Sonika D</cp:lastModifiedBy>
  <cp:revision>8</cp:revision>
  <dcterms:created xsi:type="dcterms:W3CDTF">2025-08-23T10:29:13Z</dcterms:created>
  <dcterms:modified xsi:type="dcterms:W3CDTF">2026-03-04T16:41:55Z</dcterms:modified>
</cp:coreProperties>
</file>